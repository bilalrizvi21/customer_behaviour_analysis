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etrona"/>
      <p:regular r:id="rId17"/>
    </p:embeddedFont>
    <p:embeddedFont>
      <p:font typeface="Petrona"/>
      <p:regular r:id="rId18"/>
    </p:embeddedFont>
    <p:embeddedFont>
      <p:font typeface="Petrona"/>
      <p:regular r:id="rId19"/>
    </p:embeddedFont>
    <p:embeddedFont>
      <p:font typeface="Petrona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18949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Behavior ETL &amp; Analytics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484763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Transforming raw data into actionable insights for retail success.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30486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Executive Summary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280190" y="2114907"/>
            <a:ext cx="3664744" cy="2610088"/>
          </a:xfrm>
          <a:prstGeom prst="roundRect">
            <a:avLst>
              <a:gd name="adj" fmla="val 365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624" y="2349341"/>
            <a:ext cx="680442" cy="68044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1790" y="2536388"/>
            <a:ext cx="306110" cy="30611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514624" y="325659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ETL Solution</a:t>
            </a:r>
            <a:endParaRPr lang="en-US" sz="2300" dirty="0"/>
          </a:p>
        </p:txBody>
      </p:sp>
      <p:sp>
        <p:nvSpPr>
          <p:cNvPr id="8" name="Text 3"/>
          <p:cNvSpPr/>
          <p:nvPr/>
        </p:nvSpPr>
        <p:spPr>
          <a:xfrm>
            <a:off x="6514624" y="3764756"/>
            <a:ext cx="31958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data processing.</a:t>
            </a:r>
            <a:endParaRPr lang="en-US" sz="1750" dirty="0"/>
          </a:p>
        </p:txBody>
      </p:sp>
      <p:sp>
        <p:nvSpPr>
          <p:cNvPr id="9" name="Shape 4"/>
          <p:cNvSpPr/>
          <p:nvPr/>
        </p:nvSpPr>
        <p:spPr>
          <a:xfrm>
            <a:off x="10171748" y="2114907"/>
            <a:ext cx="3664863" cy="2610088"/>
          </a:xfrm>
          <a:prstGeom prst="roundRect">
            <a:avLst>
              <a:gd name="adj" fmla="val 365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6182" y="2349341"/>
            <a:ext cx="680442" cy="680442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93348" y="2536388"/>
            <a:ext cx="306110" cy="30611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406182" y="325659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Business Intelligence</a:t>
            </a:r>
            <a:endParaRPr lang="en-US" sz="2300" dirty="0"/>
          </a:p>
        </p:txBody>
      </p:sp>
      <p:sp>
        <p:nvSpPr>
          <p:cNvPr id="13" name="Text 6"/>
          <p:cNvSpPr/>
          <p:nvPr/>
        </p:nvSpPr>
        <p:spPr>
          <a:xfrm>
            <a:off x="10406182" y="3764756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shopping behavior.</a:t>
            </a:r>
            <a:endParaRPr lang="en-US" sz="1750" dirty="0"/>
          </a:p>
        </p:txBody>
      </p:sp>
      <p:sp>
        <p:nvSpPr>
          <p:cNvPr id="14" name="Shape 7"/>
          <p:cNvSpPr/>
          <p:nvPr/>
        </p:nvSpPr>
        <p:spPr>
          <a:xfrm>
            <a:off x="6280190" y="4951809"/>
            <a:ext cx="7556421" cy="2247186"/>
          </a:xfrm>
          <a:prstGeom prst="roundRect">
            <a:avLst>
              <a:gd name="adj" fmla="val 4239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4624" y="5186243"/>
            <a:ext cx="680442" cy="680442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01790" y="5373291"/>
            <a:ext cx="306110" cy="30611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514624" y="609350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Actionable Insights</a:t>
            </a:r>
            <a:endParaRPr lang="en-US" sz="2300" dirty="0"/>
          </a:p>
        </p:txBody>
      </p:sp>
      <p:sp>
        <p:nvSpPr>
          <p:cNvPr id="18" name="Text 9"/>
          <p:cNvSpPr/>
          <p:nvPr/>
        </p:nvSpPr>
        <p:spPr>
          <a:xfrm>
            <a:off x="6514624" y="6601658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 marketing &amp; product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8305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Statement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266747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company seeks to understand customer shopping behavior to improve sales and loyalty.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648432"/>
            <a:ext cx="7556421" cy="1385649"/>
          </a:xfrm>
          <a:prstGeom prst="roundRect">
            <a:avLst>
              <a:gd name="adj" fmla="val 10559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710" y="3648432"/>
            <a:ext cx="121920" cy="13856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28924" y="390572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Factors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6628924" y="4413885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Discounts, reviews, seasons, shipping, payment methods.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6280190" y="5260896"/>
            <a:ext cx="7556421" cy="1385649"/>
          </a:xfrm>
          <a:prstGeom prst="roundRect">
            <a:avLst>
              <a:gd name="adj" fmla="val 10559"/>
            </a:avLst>
          </a:prstGeom>
          <a:solidFill>
            <a:srgbClr val="0C0524">
              <a:alpha val="95000"/>
            </a:srgbClr>
          </a:solidFill>
          <a:ln w="30480">
            <a:solidFill>
              <a:srgbClr val="48367C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710" y="5260896"/>
            <a:ext cx="121920" cy="138564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28924" y="551819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Consumer Decisions</a:t>
            </a:r>
            <a:endParaRPr lang="en-US" sz="2300" dirty="0"/>
          </a:p>
        </p:txBody>
      </p:sp>
      <p:sp>
        <p:nvSpPr>
          <p:cNvPr id="12" name="Text 7"/>
          <p:cNvSpPr/>
          <p:nvPr/>
        </p:nvSpPr>
        <p:spPr>
          <a:xfrm>
            <a:off x="6628924" y="6026348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 drivers of purchases and repeat behavior.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089" y="562332"/>
            <a:ext cx="5363170" cy="670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Overview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5089" y="1641396"/>
            <a:ext cx="13200221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Detailed customer-level transaction data for descriptive and behavioral analysis.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5089" y="2198013"/>
            <a:ext cx="510778" cy="5107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5089" y="2964180"/>
            <a:ext cx="2681526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Demographics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15089" y="3421856"/>
            <a:ext cx="6472357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gender.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2835" y="2198013"/>
            <a:ext cx="510778" cy="5107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2835" y="2964180"/>
            <a:ext cx="2681526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Purchase Behavior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7442835" y="3421856"/>
            <a:ext cx="6472476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Product, category, amount.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5089" y="4157305"/>
            <a:ext cx="510778" cy="51077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5089" y="4923472"/>
            <a:ext cx="2681526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Discounts &amp; Promos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715089" y="5381149"/>
            <a:ext cx="6472357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Applied offers.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42835" y="4157305"/>
            <a:ext cx="510778" cy="51077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42835" y="4923472"/>
            <a:ext cx="2681526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Reviews &amp; Ratings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7442835" y="5381149"/>
            <a:ext cx="6472476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feedback.</a:t>
            </a:r>
            <a:endParaRPr lang="en-US" sz="16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5089" y="6116598"/>
            <a:ext cx="510778" cy="51077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15089" y="6882765"/>
            <a:ext cx="2681526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Shipping Prefs</a:t>
            </a:r>
            <a:endParaRPr lang="en-US" sz="2100" dirty="0"/>
          </a:p>
        </p:txBody>
      </p:sp>
      <p:sp>
        <p:nvSpPr>
          <p:cNvPr id="18" name="Text 11"/>
          <p:cNvSpPr/>
          <p:nvPr/>
        </p:nvSpPr>
        <p:spPr>
          <a:xfrm>
            <a:off x="715089" y="7340441"/>
            <a:ext cx="6472357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choices.</a:t>
            </a:r>
            <a:endParaRPr lang="en-US" sz="16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42835" y="6116598"/>
            <a:ext cx="510778" cy="51077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42835" y="6882765"/>
            <a:ext cx="2681526" cy="335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Historical Purchases</a:t>
            </a:r>
            <a:endParaRPr lang="en-US" sz="2100" dirty="0"/>
          </a:p>
        </p:txBody>
      </p:sp>
      <p:sp>
        <p:nvSpPr>
          <p:cNvPr id="21" name="Text 13"/>
          <p:cNvSpPr/>
          <p:nvPr/>
        </p:nvSpPr>
        <p:spPr>
          <a:xfrm>
            <a:off x="7442835" y="7340441"/>
            <a:ext cx="6472476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behavior.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31263"/>
            <a:ext cx="596741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ETL Process Overview</a:t>
            </a:r>
            <a:endParaRPr lang="en-US" sz="4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61568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84249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Extract (Python)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7641074" y="3350657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data import, inspection, identify issues.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97656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420338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Transform (Python)</a:t>
            </a:r>
            <a:endParaRPr lang="en-US" sz="2300" dirty="0"/>
          </a:p>
        </p:txBody>
      </p:sp>
      <p:sp>
        <p:nvSpPr>
          <p:cNvPr id="9" name="Text 4"/>
          <p:cNvSpPr/>
          <p:nvPr/>
        </p:nvSpPr>
        <p:spPr>
          <a:xfrm>
            <a:off x="7641074" y="4711541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Clean, handle missing values, feature engineer.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5337453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556426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Load (SQL)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7641074" y="6072426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enriched data, load into SQL DB.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429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3021" y="460891"/>
            <a:ext cx="5571173" cy="549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Business Insights (SQL)</a:t>
            </a:r>
            <a:endParaRPr lang="en-US" sz="3450" dirty="0"/>
          </a:p>
        </p:txBody>
      </p:sp>
      <p:sp>
        <p:nvSpPr>
          <p:cNvPr id="4" name="Shape 1"/>
          <p:cNvSpPr/>
          <p:nvPr/>
        </p:nvSpPr>
        <p:spPr>
          <a:xfrm>
            <a:off x="6073021" y="1513403"/>
            <a:ext cx="7970758" cy="1253014"/>
          </a:xfrm>
          <a:prstGeom prst="roundRect">
            <a:avLst>
              <a:gd name="adj" fmla="val 8757"/>
            </a:avLst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3021" y="1490543"/>
            <a:ext cx="7970758" cy="9144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7000" y="1262063"/>
            <a:ext cx="502801" cy="50280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957852" y="1387793"/>
            <a:ext cx="201097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550" dirty="0"/>
          </a:p>
        </p:txBody>
      </p:sp>
      <p:sp>
        <p:nvSpPr>
          <p:cNvPr id="8" name="Text 3"/>
          <p:cNvSpPr/>
          <p:nvPr/>
        </p:nvSpPr>
        <p:spPr>
          <a:xfrm>
            <a:off x="6263402" y="1932384"/>
            <a:ext cx="2199799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by Gender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6263402" y="2307908"/>
            <a:ext cx="7589996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revenue contribution.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6073021" y="3185279"/>
            <a:ext cx="7970758" cy="1253014"/>
          </a:xfrm>
          <a:prstGeom prst="roundRect">
            <a:avLst>
              <a:gd name="adj" fmla="val 8757"/>
            </a:avLst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3021" y="3162419"/>
            <a:ext cx="7970758" cy="91440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7000" y="2933938"/>
            <a:ext cx="502801" cy="50280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957852" y="3059668"/>
            <a:ext cx="201097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550" dirty="0"/>
          </a:p>
        </p:txBody>
      </p:sp>
      <p:sp>
        <p:nvSpPr>
          <p:cNvPr id="14" name="Text 7"/>
          <p:cNvSpPr/>
          <p:nvPr/>
        </p:nvSpPr>
        <p:spPr>
          <a:xfrm>
            <a:off x="6263402" y="3604260"/>
            <a:ext cx="2716173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High-Value Discount Users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6263402" y="3979783"/>
            <a:ext cx="7589996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price-insensitive customers.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6073021" y="4857155"/>
            <a:ext cx="7970758" cy="1253014"/>
          </a:xfrm>
          <a:prstGeom prst="roundRect">
            <a:avLst>
              <a:gd name="adj" fmla="val 8757"/>
            </a:avLst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3021" y="4834295"/>
            <a:ext cx="7970758" cy="91440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07000" y="4605814"/>
            <a:ext cx="502801" cy="502801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957852" y="4731544"/>
            <a:ext cx="201097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550" dirty="0"/>
          </a:p>
        </p:txBody>
      </p:sp>
      <p:sp>
        <p:nvSpPr>
          <p:cNvPr id="20" name="Text 11"/>
          <p:cNvSpPr/>
          <p:nvPr/>
        </p:nvSpPr>
        <p:spPr>
          <a:xfrm>
            <a:off x="6263402" y="5276136"/>
            <a:ext cx="2199799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Rated Products</a:t>
            </a:r>
            <a:endParaRPr lang="en-US" sz="1700" dirty="0"/>
          </a:p>
        </p:txBody>
      </p:sp>
      <p:sp>
        <p:nvSpPr>
          <p:cNvPr id="21" name="Text 12"/>
          <p:cNvSpPr/>
          <p:nvPr/>
        </p:nvSpPr>
        <p:spPr>
          <a:xfrm>
            <a:off x="6263402" y="5651659"/>
            <a:ext cx="7589996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high-rated items.</a:t>
            </a:r>
            <a:endParaRPr lang="en-US" sz="1300" dirty="0"/>
          </a:p>
        </p:txBody>
      </p:sp>
      <p:sp>
        <p:nvSpPr>
          <p:cNvPr id="22" name="Shape 13"/>
          <p:cNvSpPr/>
          <p:nvPr/>
        </p:nvSpPr>
        <p:spPr>
          <a:xfrm>
            <a:off x="6073021" y="6529030"/>
            <a:ext cx="7970758" cy="1253014"/>
          </a:xfrm>
          <a:prstGeom prst="roundRect">
            <a:avLst>
              <a:gd name="adj" fmla="val 8757"/>
            </a:avLst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3021" y="6506170"/>
            <a:ext cx="7970758" cy="91440"/>
          </a:xfrm>
          <a:prstGeom prst="rect">
            <a:avLst/>
          </a:prstGeom>
        </p:spPr>
      </p:pic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07000" y="6277689"/>
            <a:ext cx="502801" cy="502801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9957852" y="6403419"/>
            <a:ext cx="201097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550" dirty="0"/>
          </a:p>
        </p:txBody>
      </p:sp>
      <p:sp>
        <p:nvSpPr>
          <p:cNvPr id="26" name="Text 15"/>
          <p:cNvSpPr/>
          <p:nvPr/>
        </p:nvSpPr>
        <p:spPr>
          <a:xfrm>
            <a:off x="6263402" y="6948011"/>
            <a:ext cx="238494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Shipping Type vs Spend</a:t>
            </a:r>
            <a:endParaRPr lang="en-US" sz="1700" dirty="0"/>
          </a:p>
        </p:txBody>
      </p:sp>
      <p:sp>
        <p:nvSpPr>
          <p:cNvPr id="27" name="Text 16"/>
          <p:cNvSpPr/>
          <p:nvPr/>
        </p:nvSpPr>
        <p:spPr>
          <a:xfrm>
            <a:off x="6263402" y="7323534"/>
            <a:ext cx="7589996" cy="268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spending by shipping preference.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7330" y="430054"/>
            <a:ext cx="5542598" cy="513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Subscription &amp; Segmentation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7330" y="1334095"/>
            <a:ext cx="2052637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Subscription Impact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7330" y="1747004"/>
            <a:ext cx="6577132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 vs. non-subscribers: similar spend, non-subscribers higher total revenue.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330" y="2173129"/>
            <a:ext cx="6577132" cy="65771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13558" y="1334095"/>
            <a:ext cx="2274451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Segmentation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13558" y="1747004"/>
            <a:ext cx="6577132" cy="25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New, Returning, Loyal segments for personalized marketing.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3558" y="2173129"/>
            <a:ext cx="6577132" cy="65771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115" y="423624"/>
            <a:ext cx="6685002" cy="505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Repeat Buyers &amp; Age Group Revenue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539115" y="1313974"/>
            <a:ext cx="2841903" cy="252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Repeat Buyers &amp; Subscriptions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539115" y="1720572"/>
            <a:ext cx="6588204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 buyers often non-subscribers: missed conversion opportunity.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15" y="2140267"/>
            <a:ext cx="6588204" cy="65882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10701" y="1313974"/>
            <a:ext cx="2053709" cy="252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by Age Group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510701" y="1720572"/>
            <a:ext cx="6588204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high-contributing age groups for targeted marketing. Senior citizens contributed most to the revenue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0701" y="2386727"/>
            <a:ext cx="6588204" cy="65882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6577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Power BI Dashboard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6636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visualizations for data-driven decision-making.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10" y="3427690"/>
            <a:ext cx="3120747" cy="3120747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608" y="3427690"/>
            <a:ext cx="3120866" cy="3120866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5926" y="3427690"/>
            <a:ext cx="3120747" cy="3120747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8124" y="3427690"/>
            <a:ext cx="3120866" cy="31208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329" y="570786"/>
            <a:ext cx="8378428" cy="679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Insights &amp; Recommendations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725329" y="1665208"/>
            <a:ext cx="466249" cy="466249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278" y="1694319"/>
            <a:ext cx="326350" cy="40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398746" y="1736408"/>
            <a:ext cx="2720102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 Drivers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98746" y="2200751"/>
            <a:ext cx="12506325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over subscription status.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5329" y="2946797"/>
            <a:ext cx="466249" cy="466249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278" y="2975908"/>
            <a:ext cx="326350" cy="40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398746" y="3017996"/>
            <a:ext cx="2839403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Discount Effectiveness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98746" y="3482340"/>
            <a:ext cx="12506325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promotions boost revenue.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5329" y="4228386"/>
            <a:ext cx="466249" cy="466249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278" y="4257496"/>
            <a:ext cx="326350" cy="40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398746" y="4299585"/>
            <a:ext cx="2720102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 Performance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98746" y="4763929"/>
            <a:ext cx="12506325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High-rated products for promotions.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25329" y="5509974"/>
            <a:ext cx="466249" cy="466249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278" y="5539085"/>
            <a:ext cx="326350" cy="40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398746" y="5581174"/>
            <a:ext cx="3033236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Conversion Opportunity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98746" y="6045518"/>
            <a:ext cx="12506325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 repeat buyers to subscribers.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5329" y="6791563"/>
            <a:ext cx="466249" cy="466249"/>
          </a:xfrm>
          <a:prstGeom prst="roundRect">
            <a:avLst>
              <a:gd name="adj" fmla="val 18670"/>
            </a:avLst>
          </a:prstGeom>
          <a:solidFill>
            <a:srgbClr val="2F1D63"/>
          </a:solidFill>
          <a:ln w="7620">
            <a:solidFill>
              <a:srgbClr val="483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278" y="6820674"/>
            <a:ext cx="326350" cy="40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398746" y="6862763"/>
            <a:ext cx="2932628" cy="340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Demographic Targeting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398746" y="7327106"/>
            <a:ext cx="12506325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Refined marketing by age/gender.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2025-12-14T19:03:48Z</dcterms:created>
  <dcterms:modified xsi:type="dcterms:W3CDTF">2025-12-14T19:03:48Z</dcterms:modified>
</cp:coreProperties>
</file>